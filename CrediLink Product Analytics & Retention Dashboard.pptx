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3">
          <p15:clr>
            <a:srgbClr val="747775"/>
          </p15:clr>
        </p15:guide>
        <p15:guide id="2" orient="horz" pos="680">
          <p15:clr>
            <a:srgbClr val="747775"/>
          </p15:clr>
        </p15:guide>
        <p15:guide id="3" orient="horz" pos="772">
          <p15:clr>
            <a:srgbClr val="747775"/>
          </p15:clr>
        </p15:guide>
        <p15:guide id="4" orient="horz" pos="701">
          <p15:clr>
            <a:srgbClr val="747775"/>
          </p15:clr>
        </p15:guide>
        <p15:guide id="5" orient="horz" pos="691">
          <p15:clr>
            <a:srgbClr val="747775"/>
          </p15:clr>
        </p15:guide>
        <p15:guide id="6" orient="horz" pos="670">
          <p15:clr>
            <a:srgbClr val="747775"/>
          </p15:clr>
        </p15:guide>
        <p15:guide id="7" orient="horz" pos="686">
          <p15:clr>
            <a:srgbClr val="747775"/>
          </p15:clr>
        </p15:guide>
        <p15:guide id="8" orient="horz" pos="694">
          <p15:clr>
            <a:srgbClr val="747775"/>
          </p15:clr>
        </p15:guide>
        <p15:guide id="9" orient="horz" pos="659">
          <p15:clr>
            <a:srgbClr val="747775"/>
          </p15:clr>
        </p15:guide>
        <p15:guide id="10" orient="horz" pos="664">
          <p15:clr>
            <a:srgbClr val="747775"/>
          </p15:clr>
        </p15:guide>
        <p15:guide id="11" orient="horz" pos="662">
          <p15:clr>
            <a:srgbClr val="747775"/>
          </p15:clr>
        </p15:guide>
        <p15:guide id="12" orient="horz" pos="656">
          <p15:clr>
            <a:srgbClr val="747775"/>
          </p15:clr>
        </p15:guide>
        <p15:guide id="13" orient="horz" pos="784">
          <p15:clr>
            <a:srgbClr val="747775"/>
          </p15:clr>
        </p15:guide>
        <p15:guide id="14" orient="horz" pos="385">
          <p15:clr>
            <a:srgbClr val="747775"/>
          </p15:clr>
        </p15:guide>
        <p15:guide id="15" orient="horz" pos="418">
          <p15:clr>
            <a:srgbClr val="747775"/>
          </p15:clr>
        </p15:guide>
        <p15:guide id="16" orient="horz" pos="747">
          <p15:clr>
            <a:srgbClr val="747775"/>
          </p15:clr>
        </p15:guide>
        <p15:guide id="17" orient="horz" pos="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2578C0-3624-4DA0-AB6D-D6F56D215D7D}">
  <a:tblStyle styleId="{5E2578C0-3624-4DA0-AB6D-D6F56D215D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3" orient="horz"/>
        <p:guide pos="680" orient="horz"/>
        <p:guide pos="772" orient="horz"/>
        <p:guide pos="701" orient="horz"/>
        <p:guide pos="691" orient="horz"/>
        <p:guide pos="670" orient="horz"/>
        <p:guide pos="686" orient="horz"/>
        <p:guide pos="694" orient="horz"/>
        <p:guide pos="659" orient="horz"/>
        <p:guide pos="664" orient="horz"/>
        <p:guide pos="662" orient="horz"/>
        <p:guide pos="656" orient="horz"/>
        <p:guide pos="784" orient="horz"/>
        <p:guide pos="385" orient="horz"/>
        <p:guide pos="418" orient="horz"/>
        <p:guide pos="747" orient="horz"/>
        <p:guide pos="7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1b268c8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1b268c8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51b268c8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51b268c8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51b268c8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51b268c8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51b268c8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51b268c8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1b268c8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1b268c8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1b268c8d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1b268c8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51b268c8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51b268c8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51b268c8d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51b268c8d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51b268c8d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51b268c8d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51b268c8d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51b268c8d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51b268c8d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51b268c8d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kaggle.com/datasets/niketdheeryan/fintech-users-data" TargetMode="External"/><Relationship Id="rId4" Type="http://schemas.openxmlformats.org/officeDocument/2006/relationships/hyperlink" Target="https://www.kaggle.com/datasets/harunrai/fintech-customer-life-time-value-ltv-dataset" TargetMode="External"/><Relationship Id="rId5" Type="http://schemas.openxmlformats.org/officeDocument/2006/relationships/hyperlink" Target="https://www.kaggle.com/code/malyshevartem/product-metrics-and-retention-analysis" TargetMode="External"/><Relationship Id="rId6" Type="http://schemas.openxmlformats.org/officeDocument/2006/relationships/hyperlink" Target="https://www.kaggle.com/datasets/mustafakeser4/bigquery-fintech-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CrediLink Product Analytics &amp; Retention Dashboard</a:t>
            </a:r>
            <a:endParaRPr b="1" sz="46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Data-Driven Insights for User Growth and Retention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452500"/>
            <a:ext cx="48867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990"/>
              <a:buNone/>
            </a:pPr>
            <a:r>
              <a:rPr lang="en-GB" sz="128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Presenter: Lydia Odame, Data Analyst                                                                              Date: 07/01/2026</a:t>
            </a:r>
            <a:endParaRPr sz="12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11671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Title of Project:</a:t>
            </a: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Fintech App Product Analytics &amp; Retention Insights for </a:t>
            </a:r>
            <a:r>
              <a:rPr lang="en-GB" sz="15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CrediLink 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9570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Executive Summary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Key Highlights:</a:t>
            </a:r>
            <a:endParaRPr b="1"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MAU Growth: 83% decrease in the last quarter 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Churn Reduction: 56.3% improvement in retention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Strong user intent: High loan demand, low cancelation rate but zero </a:t>
            </a: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disbursement</a:t>
            </a: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recorded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Loan application pending: 87.5% of application stuck in pending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Revenue Impact: 8.85 Billion  revenue at risk identified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Recommendations:</a:t>
            </a:r>
            <a:endParaRPr b="1"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Focus retention efforts on "Critical Risk" segment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Increase feature adoption among bill payment users to increase retention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Fix </a:t>
            </a: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disbursement</a:t>
            </a: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wallet/bank integration issues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n-GB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Validate loan status tracking in the app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User Growth &amp; Activity Trends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MAU Growth Trend (Line Chart)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Current MAU: 99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MoM Growth: 17%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Target: 348 by next quarter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450" y="1358775"/>
            <a:ext cx="5715000" cy="29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Retention Analysis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Cohort Retention Curves (Line Chart)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October Cohort: 5.87% retention in October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November Cohort: </a:t>
            </a:r>
            <a:r>
              <a:rPr lang="en-GB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5.41% retention in November (decrease)</a:t>
            </a:r>
            <a:endParaRPr sz="12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December  Cohort: 10.09% retention in December (improvement)</a:t>
            </a:r>
            <a:endParaRPr b="1" sz="12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Key Insight: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Highest retention among users in December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Lowest retention among users  in November 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36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Churn Risk Assessment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Churn Risk Distribution (Pie Chart)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2418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Critical Risk: 25.31% (1,772 users)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 Risk: 74.69% </a:t>
            </a:r>
            <a:r>
              <a:rPr lang="en-GB" sz="15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(5,228 users)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Revenue at Risk: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2418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Total: </a:t>
            </a:r>
            <a:r>
              <a:rPr lang="en-GB" sz="15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8.85 Billion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Critical Segment: 4,995,031(average revenue per at-risk-user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Low Risk Segment: Zero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1254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Feature Adoption Analysis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Feature Adoption Rates (Pie Chart)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Loans: 0% adoption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Bill Payments: 64.64% adoption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Transfers: 35.36% adoption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Savings :0% adoption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375" y="1174959"/>
            <a:ext cx="5259926" cy="340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323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User Segmentation Insights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195250" y="4323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/>
              <a:t>                                                          </a:t>
            </a:r>
            <a:r>
              <a:rPr lang="en-GB" sz="1400"/>
              <a:t>Segment Performance Table</a:t>
            </a:r>
            <a:endParaRPr sz="1400"/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195250" y="9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{5E2578C0-3624-4DA0-AB6D-D6F56D215D7D}</a:tableStyleId>
              </a:tblPr>
              <a:tblGrid>
                <a:gridCol w="2151500"/>
                <a:gridCol w="2192800"/>
                <a:gridCol w="2192800"/>
                <a:gridCol w="2192800"/>
              </a:tblGrid>
              <a:tr h="43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Segment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152400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Size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Churn rate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android_user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10039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33.51%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Prioritise app performance and UX issues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ios_user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6755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33.48%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Prioritise app performance and UX issues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web_user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10255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33.01%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Prioritise web performance and UX issues           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Payment_type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13841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1.76%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Maintain current </a:t>
                      </a:r>
                      <a:r>
                        <a:rPr lang="en-GB" sz="1100"/>
                        <a:t>payment</a:t>
                      </a:r>
                      <a:r>
                        <a:rPr lang="en-GB" sz="1100"/>
                        <a:t> flow performance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Is_referred (referral type)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6285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0.86%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Strengthen</a:t>
                      </a:r>
                      <a:r>
                        <a:rPr lang="en-GB" sz="1100"/>
                        <a:t> referral programs to expand user referrals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Predictive Insights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0029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Machine Learning Findings: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Top 3 Churn Predictors: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Days since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last active day (&lt;91 days)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 savings activity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Preferred 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payment</a:t>
            </a: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method: Wallet balance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Model Accuracy: 98% precision in predicting churn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Implementation: Model deployed in Power BI dashboard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258775" y="-2706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Recommendations &amp; Action Plan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187225" y="5606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Quarterly Objectives: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○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Immediate Actions (Next 30 days):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Fix loan disbursement and wallet bank integration to unblock 87.5% pending loans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Audit and validate loan status tracking and event logging in the app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Resolve critical Android, iOS, and Web performance issues impacting high-churn users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Launch targeted retention nudges for  Critical Risk users (</a:t>
            </a: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1,772 users) </a:t>
            </a: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identified by the Machine Learning model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Re-engage inactive users last active &lt; 91 days with push and in app messaging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○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Strategic Initiatives (Next 90 days):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Redesign loan flow to reduce approval and disbursement delays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Introduce savings activation journeys to reduce churn risk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Scale referral acquisition given lowest churn rate segment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Increase bill payment feature adoption to improve retention and MAU growth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 churn prediction driven interventions in Power BI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○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Product Improvements: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loan application sub statuses for better visibility and control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Improve wallet balance payment reliability and success rates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Optimize onboarding to drive early feature adoption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Introduce clear user communication during loan pending stages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Enhance cross platform UX  consistency   </a:t>
            </a: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8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○"/>
            </a:pP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Additional Key Recommendations: </a:t>
            </a:r>
            <a:endParaRPr sz="8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Focus revenue protection on Critical Risk users contributing 8.85 Billion at risk</a:t>
            </a:r>
            <a:endParaRPr sz="8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Track ARPU and retention by feature adoption and platform</a:t>
            </a:r>
            <a:endParaRPr sz="8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Set SLAs for loan processing and pending resolution</a:t>
            </a:r>
            <a:endParaRPr sz="800">
              <a:solidFill>
                <a:srgbClr val="0F111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800"/>
              <a:buFont typeface="Roboto"/>
              <a:buChar char="■"/>
            </a:pPr>
            <a:r>
              <a:rPr lang="en-GB" sz="8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December cohort retention drivers to replicate successful behavior</a:t>
            </a:r>
            <a:endParaRPr sz="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Dashboard Walkthrough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Power BI Dashboard Sections: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Executive View: Top KPIs at a glance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Trend Analysis: Daily/Monthly trends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Cohort Analysis: Retention curves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Risk Assessment: Churn prediction scores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Segmentation: User behavior clusters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Drill-Through: Individual user details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925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ct val="68275"/>
              <a:buFont typeface="Arial"/>
              <a:buNone/>
            </a:pPr>
            <a:r>
              <a:rPr b="1" lang="en-GB" sz="161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Appendix &amp; Q&amp;A</a:t>
            </a:r>
            <a:endParaRPr sz="4311"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3238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 Sources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https://www.kaggle.com/datasets/niketdheeryan/fintech-users-data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https://www.kaggle.com/datasets/harunrai/fintech-customer-life-time-value-ltv-dataset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https://www.kaggle.com/code/malyshevartem/product-metrics-and-retention-analysis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https://www.kaggle.com/datasets/mustafakeser4/bigquery-fintech-dataset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MySQL Workbench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Tools Used: Python, Power BI, SQL, Excel, Google Slide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Contact: Lydiaseniodame@gmail.com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Dashboard Access: </a:t>
            </a:r>
            <a:r>
              <a:rPr i="1"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lydyaforson18@outlook.com</a:t>
            </a:r>
            <a:endParaRPr i="1"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